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71" r:id="rId7"/>
    <p:sldId id="274" r:id="rId8"/>
    <p:sldId id="275" r:id="rId9"/>
    <p:sldId id="276" r:id="rId10"/>
    <p:sldId id="272" r:id="rId11"/>
    <p:sldId id="268" r:id="rId12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4660"/>
  </p:normalViewPr>
  <p:slideViewPr>
    <p:cSldViewPr>
      <p:cViewPr varScale="1">
        <p:scale>
          <a:sx n="59" d="100"/>
          <a:sy n="59" d="100"/>
        </p:scale>
        <p:origin x="917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294" y="1638300"/>
            <a:ext cx="15732125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2862579"/>
            <a:ext cx="14345285" cy="363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electronics13010017" TargetMode="External"/><Relationship Id="rId2" Type="http://schemas.openxmlformats.org/officeDocument/2006/relationships/hyperlink" Target="https://doi.org/10.3390/s2117587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3000" y="1134643"/>
            <a:ext cx="11068050" cy="1866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86200" marR="17780" indent="-3860800">
              <a:lnSpc>
                <a:spcPct val="154600"/>
              </a:lnSpc>
              <a:spcBef>
                <a:spcPts val="95"/>
              </a:spcBef>
            </a:pPr>
            <a:r>
              <a:rPr sz="4150" b="1" spc="-13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415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4150" b="1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5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sz="4150" b="1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15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15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</a:t>
            </a:r>
            <a:r>
              <a:rPr sz="4150" b="1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50" b="1" spc="-5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4150" b="1" spc="-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5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</a:t>
            </a:r>
            <a:r>
              <a:rPr sz="4150" b="1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5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4150" b="1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50" b="1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4150" b="1" spc="-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5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</a:t>
            </a:r>
            <a:r>
              <a:rPr lang="en-US" sz="415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4150" b="1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4650" b="1" spc="-44" baseline="232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650" b="1" spc="-44" baseline="23297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415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15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Jan-Jun</a:t>
            </a:r>
            <a:r>
              <a:rPr sz="4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)202</a:t>
            </a:r>
            <a:r>
              <a:rPr lang="en-US" sz="4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5200" y="6197600"/>
            <a:ext cx="3632835" cy="8431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600" b="1" u="sng" spc="-2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sz="2600" b="1" u="sng" spc="-2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Bhawna Ojha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90200" y="6197600"/>
            <a:ext cx="5348605" cy="151695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lang="en-IN" sz="2800" dirty="0">
                <a:latin typeface="+mj-lt"/>
                <a:cs typeface="Times New Roman" panose="02020603050405020304" pitchFamily="18" charset="0"/>
              </a:rPr>
              <a:t>Sojwal Sonkusale-0905CS221200</a:t>
            </a:r>
          </a:p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lang="en-IN" sz="2800" dirty="0">
                <a:latin typeface="+mj-lt"/>
                <a:cs typeface="Times New Roman" panose="02020603050405020304" pitchFamily="18" charset="0"/>
              </a:rPr>
              <a:t>Yogesh Yadav-0905CS221233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57615-2222-CF2A-0EF0-436D69C33A18}"/>
              </a:ext>
            </a:extLst>
          </p:cNvPr>
          <p:cNvSpPr txBox="1"/>
          <p:nvPr/>
        </p:nvSpPr>
        <p:spPr>
          <a:xfrm>
            <a:off x="3946525" y="3001372"/>
            <a:ext cx="8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</a:t>
            </a:r>
          </a:p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Synopsis On :</a:t>
            </a:r>
          </a:p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Blockchain Voting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C8D6D78-73F6-6F44-01FB-0C6633A73ACA}"/>
              </a:ext>
            </a:extLst>
          </p:cNvPr>
          <p:cNvSpPr txBox="1"/>
          <p:nvPr/>
        </p:nvSpPr>
        <p:spPr>
          <a:xfrm>
            <a:off x="965200" y="7411393"/>
            <a:ext cx="3632835" cy="8431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u="sng" spc="-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</a:t>
            </a:r>
            <a:r>
              <a:rPr sz="2600" b="1" u="sng" spc="-21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u="sng" spc="-2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600" b="1" u="sng" spc="-2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u="sng" spc="-2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Bhawna Ojha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721220" y="2491358"/>
            <a:ext cx="14714219" cy="97790"/>
          </a:xfrm>
          <a:custGeom>
            <a:avLst/>
            <a:gdLst/>
            <a:ahLst/>
            <a:cxnLst/>
            <a:rect l="l" t="t" r="r" b="b"/>
            <a:pathLst>
              <a:path w="14714219" h="97789">
                <a:moveTo>
                  <a:pt x="0" y="97345"/>
                </a:moveTo>
                <a:lnTo>
                  <a:pt x="14713597" y="0"/>
                </a:lnTo>
              </a:path>
            </a:pathLst>
          </a:custGeom>
          <a:ln w="762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11200" y="2010062"/>
            <a:ext cx="1554480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100"/>
              </a:spcBef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Outlines: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4DBBCF-4922-D234-F9FE-7364A4943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2271575"/>
            <a:ext cx="14345285" cy="5186548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indent="-74295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 of the project</a:t>
            </a:r>
          </a:p>
          <a:p>
            <a:pPr marL="742950" marR="0" lvl="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Yanone Kaffeesatz ExtraLight"/>
              </a:rPr>
              <a:t>Implementation  of Modules </a:t>
            </a:r>
            <a:endParaRPr lang="en-IN" sz="4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Yanone Kaffeesatz ExtraLight"/>
            </a:endParaRPr>
          </a:p>
          <a:p>
            <a:pPr marL="742950" marR="0" lvl="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Yanone Kaffeesatz ExtraLight"/>
              </a:rPr>
              <a:t>Screenshots of the output</a:t>
            </a:r>
            <a:endParaRPr lang="en-IN" sz="4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Yanone Kaffeesatz ExtraLight"/>
            </a:endParaRPr>
          </a:p>
          <a:p>
            <a:pPr marL="742950" marR="0" lvl="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Yanone Kaffeesatz ExtraLight"/>
              </a:rPr>
              <a:t>Applications of the project</a:t>
            </a:r>
            <a:endParaRPr lang="en-IN" sz="4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Yanone Kaffeesatz ExtraLight"/>
            </a:endParaRPr>
          </a:p>
          <a:p>
            <a:pPr marL="742950" marR="0" lvl="0" indent="-74295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40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Yanone Kaffeesatz ExtraLight"/>
              </a:rPr>
              <a:t>Conclusion &amp; Future work</a:t>
            </a:r>
            <a:endParaRPr lang="en-IN" sz="4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Yanone Kaffeesatz Extra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600" y="1600200"/>
            <a:ext cx="1573212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indent="-6858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5718790" algn="l"/>
              </a:tabLst>
            </a:pPr>
            <a:r>
              <a:rPr lang="en-IN" sz="4000" u="heavy" dirty="0">
                <a:uFill>
                  <a:solidFill>
                    <a:srgbClr val="A42D1E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sz="4400" u="heavy" dirty="0">
                <a:uFill>
                  <a:solidFill>
                    <a:srgbClr val="A42D1E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5300" u="heavy" dirty="0">
                <a:uFill>
                  <a:solidFill>
                    <a:srgbClr val="A42D1E"/>
                  </a:solidFill>
                </a:uFill>
              </a:rPr>
              <a:t>	</a:t>
            </a:r>
            <a:endParaRPr sz="5300" dirty="0">
              <a:latin typeface="Times New Roman"/>
              <a:cs typeface="Times New Roman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89771B57-F35C-8579-C114-1FAD24452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562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2FE7A8B1-DB59-AF8A-B8A0-E51C536A5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502400" cy="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E64AB3B-EF12-816D-F0C3-A6B683BB5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2711708"/>
            <a:ext cx="140208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secure blockchain-based e-voting system using Python.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SHA-256 hashing for secure and tamper-proof vote storage.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Proof-of-Work consensus to validate and secure blockchain blocks.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Prevented duplicate voting through unique voter ID verification.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Web, GUI, and CLI interfaces for flexible user access.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transparent and real-time election result verification using blockchain.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875" y="1762566"/>
            <a:ext cx="1573212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Yanone Kaffeesatz ExtraLight"/>
              </a:rPr>
              <a:t>Implementation  of Modules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lang="en-IN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18600"/>
            <a:ext cx="14236700" cy="25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-3759200" y="2895600"/>
            <a:ext cx="23241000" cy="243656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ts val="1320"/>
              </a:lnSpc>
              <a:spcBef>
                <a:spcPts val="140"/>
              </a:spcBef>
            </a:pPr>
            <a:r>
              <a:rPr sz="1200" dirty="0">
                <a:latin typeface="Trebuchet MS"/>
                <a:cs typeface="Trebuchet MS"/>
              </a:rPr>
              <a:t>+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9E72D16-BD3E-C6F8-F565-7D585B9E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2390943"/>
            <a:ext cx="10668000" cy="6478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Blockchain Module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manages blockchain blocks.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chain integrity using hashes.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Voting Module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voter authentication and vote casting.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voting.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Mining Module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Proof-of-Work consensus.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new blocks before addition. 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C45A-FD90-0F98-76DF-AE736540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E47EE-4059-C60A-5224-63D8EB25CF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875" y="1762566"/>
            <a:ext cx="1573212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Yanone Kaffeesatz ExtraLight"/>
              </a:rPr>
              <a:t>Implementation  of Modules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19E247-104B-9842-6C01-46BA19640B7C}"/>
              </a:ext>
            </a:extLst>
          </p:cNvPr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8BF496E-0066-CFD2-3ED3-25A3D862A4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18600"/>
            <a:ext cx="14236700" cy="254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A5D399E-F543-8A22-A584-B5F5C32E43CE}"/>
              </a:ext>
            </a:extLst>
          </p:cNvPr>
          <p:cNvSpPr txBox="1"/>
          <p:nvPr/>
        </p:nvSpPr>
        <p:spPr>
          <a:xfrm>
            <a:off x="-3759200" y="2895600"/>
            <a:ext cx="23241000" cy="243656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ts val="1320"/>
              </a:lnSpc>
              <a:spcBef>
                <a:spcPts val="140"/>
              </a:spcBef>
            </a:pPr>
            <a:r>
              <a:rPr sz="1200" dirty="0">
                <a:latin typeface="Trebuchet MS"/>
                <a:cs typeface="Trebuchet MS"/>
              </a:rPr>
              <a:t>+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266320-2191-4111-E853-EA5C6FDBC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2603271"/>
            <a:ext cx="1066800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Web Interface Module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Flask-based responsive voting platform.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GUI Module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Tkinter-based desktop voting application.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Result &amp; Commission Module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verified constituency-wise election results.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83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5DC9-4DCD-D9F2-5C1C-5A7661FF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94" y="1943100"/>
            <a:ext cx="15732125" cy="61555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Screenshots of the output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974858A-2E6E-C41A-D368-6F648BC8BE71}"/>
              </a:ext>
            </a:extLst>
          </p:cNvPr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F51014-BF91-F89F-681C-9218DBEA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600" y="42672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1B9D8A-9A71-830E-B0C1-C5FF86533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6800" y="3286835"/>
            <a:ext cx="11268511" cy="485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44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1392-FACE-9866-2631-AD43BE37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D9E5-9370-D87D-7270-C4E6EA26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94" y="1943100"/>
            <a:ext cx="15732125" cy="61555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Screenshots of the output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EA4AB6-2B7E-AE76-7BC9-3697B6EA1C8D}"/>
              </a:ext>
            </a:extLst>
          </p:cNvPr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3E61AA-9D40-4D72-39BC-C5FF96826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600" y="42672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90AF62-4A80-57A9-B955-99BCE3B46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2953542"/>
            <a:ext cx="258229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3AF347-DFB0-81FF-93A5-AC26F56F8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1480" y="2834249"/>
            <a:ext cx="5203899" cy="58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1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E44D-2039-6442-C8FE-078D935C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8B-E638-988B-4A6C-399C22E6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94" y="1943100"/>
            <a:ext cx="15732125" cy="61555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Screenshots of the output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CAD2CB7-7D5F-028A-F7BB-1EB1F97651A6}"/>
              </a:ext>
            </a:extLst>
          </p:cNvPr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CE7085-894C-6A97-B51A-66C46DB3E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2953542"/>
            <a:ext cx="258229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4126F-234F-7B5D-D951-1010C0759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5528" y="2819400"/>
            <a:ext cx="6424944" cy="574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87E9-7C7E-6804-AD61-195C9820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1D06-54B6-4D5F-0D2D-4C3EBFD7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94" y="1943100"/>
            <a:ext cx="15732125" cy="61555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Screenshots of the output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6FA8957-7A18-2F03-6927-DFE85B2C5C5A}"/>
              </a:ext>
            </a:extLst>
          </p:cNvPr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3CCCE85-843C-EC50-783A-15E43AFD9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2953542"/>
            <a:ext cx="258229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ED3BA-A572-30F5-9519-BBCD8BD22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2743199"/>
            <a:ext cx="271887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92663-C217-8B0A-7310-8CD06121F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6953" y="2926648"/>
            <a:ext cx="5722092" cy="523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4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6245-72E9-F7A9-EEDE-9ADAA6B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94" y="1917700"/>
            <a:ext cx="15732125" cy="127727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References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9B36A-E869-F77F-561D-4588AE2A0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2667000"/>
            <a:ext cx="13106400" cy="4202689"/>
          </a:xfrm>
        </p:spPr>
        <p:txBody>
          <a:bodyPr/>
          <a:lstStyle/>
          <a:p>
            <a:pPr marL="342900" marR="0" lvl="0" indent="-342900">
              <a:lnSpc>
                <a:spcPct val="150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Jafar, U., &amp; Aziz, N. A. (2021).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for electronic voting system—Review and open research challenges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 21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(17).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https://doi.org/10.3390/s21175874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50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Hajian Berenjestanaki, M., Nguyen, N. G., &amp; Chbeir, R. (2023).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e-voting systems: A technology review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Electronics, 13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https://doi.org/10.3390/electronics13010017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50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Emami, A., Fotouhi, H., &amp; Nazari, M. (2023).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 decentralized privacy-preserving e-voting scheme using blockchain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Security and Applications, 73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https://doi.org/10.1016/j.jisa.2023.103417 </a:t>
            </a:r>
          </a:p>
          <a:p>
            <a:pPr marL="342900" marR="0" lvl="0" indent="-342900">
              <a:lnSpc>
                <a:spcPct val="150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Yan, S. (2022).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on blockchain consensus mechanism based on proof of work and proof of stake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https://doi.org/10.48550/arXiv.2209.11545 </a:t>
            </a:r>
          </a:p>
          <a:p>
            <a:pPr marL="342900" marR="0" lvl="0" indent="-342900">
              <a:lnSpc>
                <a:spcPct val="150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Swan, M. (2015).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Blockchain: Blueprint for a new economy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O’Reilly Media.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37B0ED3-64D6-50BB-605B-65023005C71D}"/>
              </a:ext>
            </a:extLst>
          </p:cNvPr>
          <p:cNvSpPr/>
          <p:nvPr/>
        </p:nvSpPr>
        <p:spPr>
          <a:xfrm>
            <a:off x="381000" y="2501963"/>
            <a:ext cx="15748635" cy="12700"/>
          </a:xfrm>
          <a:custGeom>
            <a:avLst/>
            <a:gdLst/>
            <a:ahLst/>
            <a:cxnLst/>
            <a:rect l="l" t="t" r="r" b="b"/>
            <a:pathLst>
              <a:path w="15748635" h="12700">
                <a:moveTo>
                  <a:pt x="15748254" y="12700"/>
                </a:moveTo>
                <a:lnTo>
                  <a:pt x="0" y="0"/>
                </a:lnTo>
              </a:path>
            </a:pathLst>
          </a:custGeom>
          <a:ln w="50800">
            <a:solidFill>
              <a:srgbClr val="A42D1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956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0" y="1371600"/>
            <a:ext cx="9664700" cy="718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423</Words>
  <Application>Microsoft Office PowerPoint</Application>
  <PresentationFormat>Custom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Inter</vt:lpstr>
      <vt:lpstr>Times New Roman</vt:lpstr>
      <vt:lpstr>Trebuchet MS</vt:lpstr>
      <vt:lpstr>Wingdings</vt:lpstr>
      <vt:lpstr>Office Theme</vt:lpstr>
      <vt:lpstr>Program: B. Tech , Branch: CS , Semester:8th  (Jan-Jun)2026</vt:lpstr>
      <vt:lpstr>Outlines:</vt:lpstr>
      <vt:lpstr>Abstract: </vt:lpstr>
      <vt:lpstr>Implementation  of Modules :</vt:lpstr>
      <vt:lpstr>Implementation  of Modules :</vt:lpstr>
      <vt:lpstr>Screenshots of the output</vt:lpstr>
      <vt:lpstr>Screenshots of the output</vt:lpstr>
      <vt:lpstr>Screenshots of the output</vt:lpstr>
      <vt:lpstr>Screenshots of the output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Program: B. tech , Branch: CSE- D, Semester: 3rd (Jul-Dec)2023</dc:title>
  <dc:creator>sparshi jain</dc:creator>
  <cp:lastModifiedBy>Yogesh Yadav</cp:lastModifiedBy>
  <cp:revision>18</cp:revision>
  <dcterms:created xsi:type="dcterms:W3CDTF">2023-10-24T06:00:18Z</dcterms:created>
  <dcterms:modified xsi:type="dcterms:W3CDTF">2026-05-27T09:18:46Z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2023-10-24T00:00:00Z</vt:filetime>
  </property>
  <property fmtid="{D5CDD505-2E9C-101B-9397-08002B2CF9AE}" pid="3" name="LastSaved">
    <vt:filetime>2023-10-24T00:00:00Z</vt:filetime>
  </property>
  <property fmtid="{D5CDD505-2E9C-101B-9397-08002B2CF9AE}" pid="4" name="Producer">
    <vt:lpwstr>GPL Ghostscript 9.52</vt:lpwstr>
  </property>
</Properties>
</file>